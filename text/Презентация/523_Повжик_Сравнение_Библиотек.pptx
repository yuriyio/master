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1"/>
  </p:sldMasterIdLst>
  <p:notesMasterIdLst>
    <p:notesMasterId r:id="rId16"/>
  </p:notesMasterIdLst>
  <p:sldIdLst>
    <p:sldId id="295" r:id="rId2"/>
    <p:sldId id="299" r:id="rId3"/>
    <p:sldId id="317" r:id="rId4"/>
    <p:sldId id="303" r:id="rId5"/>
    <p:sldId id="287" r:id="rId6"/>
    <p:sldId id="320" r:id="rId7"/>
    <p:sldId id="306" r:id="rId8"/>
    <p:sldId id="307" r:id="rId9"/>
    <p:sldId id="312" r:id="rId10"/>
    <p:sldId id="313" r:id="rId11"/>
    <p:sldId id="318" r:id="rId12"/>
    <p:sldId id="315" r:id="rId13"/>
    <p:sldId id="316" r:id="rId14"/>
    <p:sldId id="308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Средний стиль 3 -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Средний стиль 3 -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Средний стиль 3 -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Средний стиль 3 -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688" autoAdjust="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648E5-5C80-4FE9-AAD7-62F4B4A77891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AF90C-B8CE-4128-8027-920B6E05D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019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702D1-8E83-4FD4-BB01-79BD0A8F6AB9}" type="datetime1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162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7E6-D432-474A-99FA-3F1F144DCE56}" type="datetime1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8367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CBF1-D137-43A7-8248-FC41F9FCA7D3}" type="datetime1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71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D0E2-9266-4F5B-8712-9C40A7B33815}" type="datetime1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543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E68-9A9E-41FA-A766-D424906509E0}" type="datetime1">
              <a:rPr lang="ru-RU" smtClean="0"/>
              <a:t>27.05.2026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014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A0ACD-AF0C-4225-98F5-843381AEFD21}" type="datetime1">
              <a:rPr lang="ru-RU" smtClean="0"/>
              <a:t>27.05.2026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370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6724C-D428-455B-A8FE-DE4E1B538F0F}" type="datetime1">
              <a:rPr lang="ru-RU" smtClean="0"/>
              <a:t>27.05.2026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994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C401-72A7-4619-9627-39A11F3A572F}" type="datetime1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6373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1527-DCC5-4874-97E0-42C57D0917FB}" type="datetime1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84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046E-8E18-4941-B41C-4C355F81EA6C}" type="datetime1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88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C9E0-4B7D-4D09-9DE1-AB72584E504C}" type="datetime1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215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E1DE8-352A-4ED5-AF20-18A70F68A9BC}" type="datetime1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038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1415016" y="548680"/>
            <a:ext cx="614033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0">
                <a:latin typeface="Times New Roman"/>
              </a:defRPr>
            </a:pPr>
            <a:r>
              <a:rPr dirty="0" err="1"/>
              <a:t>Московский</a:t>
            </a:r>
            <a:r>
              <a:rPr dirty="0"/>
              <a:t> </a:t>
            </a:r>
            <a:r>
              <a:rPr dirty="0" err="1"/>
              <a:t>государственный</a:t>
            </a:r>
            <a:r>
              <a:rPr dirty="0"/>
              <a:t> </a:t>
            </a:r>
            <a:r>
              <a:rPr dirty="0" err="1"/>
              <a:t>университет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М.В. </a:t>
            </a:r>
            <a:r>
              <a:rPr dirty="0" err="1"/>
              <a:t>Ломоносова</a:t>
            </a:r>
            <a:r>
              <a:rPr dirty="0"/>
              <a:t/>
            </a:r>
            <a:br>
              <a:rPr dirty="0"/>
            </a:br>
            <a:r>
              <a:rPr dirty="0" err="1"/>
              <a:t>Факультет</a:t>
            </a:r>
            <a:r>
              <a:rPr dirty="0"/>
              <a:t> </a:t>
            </a:r>
            <a:r>
              <a:rPr dirty="0" err="1"/>
              <a:t>вычислительной</a:t>
            </a:r>
            <a:r>
              <a:rPr dirty="0"/>
              <a:t> </a:t>
            </a:r>
            <a:r>
              <a:rPr dirty="0" err="1"/>
              <a:t>математики</a:t>
            </a:r>
            <a:r>
              <a:rPr dirty="0"/>
              <a:t> и </a:t>
            </a:r>
            <a:r>
              <a:rPr dirty="0" err="1"/>
              <a:t>кибернетики</a:t>
            </a:r>
            <a:r>
              <a:rPr dirty="0"/>
              <a:t/>
            </a:r>
            <a:br>
              <a:rPr dirty="0"/>
            </a:br>
            <a:r>
              <a:rPr lang="ru-RU" dirty="0" smtClean="0"/>
              <a:t>Кафедра </a:t>
            </a:r>
            <a:r>
              <a:rPr lang="ru-RU" dirty="0"/>
              <a:t>суперкомпьютеров и квантовой информатики</a:t>
            </a:r>
            <a:endParaRPr dirty="0"/>
          </a:p>
        </p:txBody>
      </p:sp>
      <p:sp>
        <p:nvSpPr>
          <p:cNvPr id="8" name="TextBox 2"/>
          <p:cNvSpPr txBox="1"/>
          <p:nvPr/>
        </p:nvSpPr>
        <p:spPr>
          <a:xfrm>
            <a:off x="2872882" y="2090132"/>
            <a:ext cx="322460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 b="0">
                <a:latin typeface="Times New Roman"/>
              </a:defRPr>
            </a:pPr>
            <a:r>
              <a:rPr lang="ru-RU" smtClean="0"/>
              <a:t>Повжик Юрий Максимович</a:t>
            </a:r>
            <a:endParaRPr/>
          </a:p>
        </p:txBody>
      </p:sp>
      <p:sp>
        <p:nvSpPr>
          <p:cNvPr id="9" name="TextBox 3"/>
          <p:cNvSpPr txBox="1"/>
          <p:nvPr/>
        </p:nvSpPr>
        <p:spPr>
          <a:xfrm>
            <a:off x="-20323" y="2996952"/>
            <a:ext cx="901105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3200" b="0">
                <a:latin typeface="Times New Roman"/>
              </a:defRPr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библиотечных реализаций алгоритмов </a:t>
            </a:r>
            <a:b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декомпозиции графов</a:t>
            </a:r>
            <a:endParaRPr dirty="0"/>
          </a:p>
        </p:txBody>
      </p:sp>
      <p:sp>
        <p:nvSpPr>
          <p:cNvPr id="10" name="TextBox 4"/>
          <p:cNvSpPr txBox="1"/>
          <p:nvPr/>
        </p:nvSpPr>
        <p:spPr>
          <a:xfrm>
            <a:off x="5560608" y="4869160"/>
            <a:ext cx="317304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 sz="1800" b="0">
                <a:latin typeface="Times New Roman"/>
              </a:defRPr>
            </a:pPr>
            <a:r>
              <a:rPr dirty="0" err="1"/>
              <a:t>Научный</a:t>
            </a:r>
            <a:r>
              <a:rPr dirty="0"/>
              <a:t> </a:t>
            </a:r>
            <a:r>
              <a:rPr dirty="0" err="1"/>
              <a:t>руководитель</a:t>
            </a:r>
            <a:r>
              <a:rPr dirty="0"/>
              <a:t>:</a:t>
            </a:r>
            <a:br>
              <a:rPr dirty="0"/>
            </a:br>
            <a:r>
              <a:rPr dirty="0"/>
              <a:t>к.ф.-</a:t>
            </a:r>
            <a:r>
              <a:rPr dirty="0" err="1"/>
              <a:t>м.н</a:t>
            </a:r>
            <a:r>
              <a:rPr dirty="0"/>
              <a:t>.,</a:t>
            </a:r>
            <a:br>
              <a:rPr dirty="0"/>
            </a:br>
            <a:r>
              <a:rPr lang="ru-RU" dirty="0" smtClean="0"/>
              <a:t>Жуков Константин Андреевич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830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декомпозиции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330824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задачах решения систем линейных алгебраических уравнений для уменьшения времени решения необходимо 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оптимально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распределять вычислительную нагрузку по процессам.</a:t>
            </a: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графа — это задача разделения вершин графа на k непересекающихся кластеров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2</a:t>
            </a:fld>
            <a:r>
              <a:rPr lang="en-US" dirty="0" smtClean="0"/>
              <a:t>/14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839" y="1762509"/>
            <a:ext cx="3744416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662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 декомпозиции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330824" cy="4525963"/>
          </a:xfrm>
        </p:spPr>
        <p:txBody>
          <a:bodyPr>
            <a:no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Равномерное распределение суммарного веса узлов/рёбер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Минимизация суммарного веса разрезанных ребер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связности доменов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Минимизация числа соседних доменов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3</a:t>
            </a:fld>
            <a:r>
              <a:rPr lang="en-US" dirty="0" smtClean="0"/>
              <a:t>/14</a:t>
            </a:r>
            <a:endParaRPr lang="ru-RU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800" y="1700808"/>
            <a:ext cx="3760403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421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решения 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330824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Последовательные библиотеки декомпозиции графов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METIS, Jostle, Scotch, Chaco, Party,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KaHIP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KaMinPar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Параллельные библиотеки декомпозиции графов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ParMETIS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Jostle, PT-Scotch, Zoltan, Zoltan2,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ParHIP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dKaMinPar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4</a:t>
            </a:fld>
            <a:r>
              <a:rPr lang="en-US" dirty="0" smtClean="0"/>
              <a:t>/14</a:t>
            </a:r>
            <a:endParaRPr lang="ru-RU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216" y="1700808"/>
            <a:ext cx="3781919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454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качества разбиения графов с использованием библиотек имеющих интерфейс на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C++/MPI.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 библиотеки разбиения графов для анализа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параллельный ввод и распределённое хранение графов в формате CSR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унифицированный интерфейс для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вызова методов библиотек разбиения графов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оздать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систему вычисления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 оценки качества разбиения</a:t>
            </a: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сравнительный анализ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 на графах разной структуры и размерности.</a:t>
            </a: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5</a:t>
            </a:fld>
            <a:r>
              <a:rPr lang="en-US" dirty="0" smtClean="0"/>
              <a:t>/14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3582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Выбранные библиотеки декомпозиции графов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4774434"/>
              </p:ext>
            </p:extLst>
          </p:nvPr>
        </p:nvGraphicFramePr>
        <p:xfrm>
          <a:off x="457200" y="1600200"/>
          <a:ext cx="8229600" cy="45720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ParMETIS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G. </a:t>
                      </a:r>
                      <a:r>
                        <a:rPr lang="en-US" sz="2400" dirty="0" err="1" smtClean="0"/>
                        <a:t>Karypis</a:t>
                      </a:r>
                      <a:r>
                        <a:rPr lang="en-US" sz="2400" dirty="0" smtClean="0"/>
                        <a:t>, V. Kumar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University of Minnesota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PT-Scotch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F. Pellegrini, C. Chevalier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LaBRI</a:t>
                      </a:r>
                      <a:r>
                        <a:rPr lang="ru-RU" sz="2400" dirty="0" smtClean="0"/>
                        <a:t>,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Inria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ParHIP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C. Schulz, P. Sanders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KIT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dKaMinPar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D. </a:t>
                      </a:r>
                      <a:r>
                        <a:rPr lang="en-US" sz="2400" dirty="0" err="1" smtClean="0"/>
                        <a:t>Seemaier</a:t>
                      </a:r>
                      <a:r>
                        <a:rPr lang="en-US" sz="2400" dirty="0" smtClean="0"/>
                        <a:t>, P. Sanders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KIT</a:t>
                      </a:r>
                      <a:r>
                        <a:rPr lang="ru-RU" sz="2400" dirty="0" smtClean="0"/>
                        <a:t>,</a:t>
                      </a:r>
                      <a:r>
                        <a:rPr lang="ru-RU" sz="2400" baseline="0" dirty="0" smtClean="0"/>
                        <a:t> </a:t>
                      </a:r>
                      <a:r>
                        <a:rPr lang="en-US" sz="2400" dirty="0" err="1" smtClean="0"/>
                        <a:t>Uni</a:t>
                      </a:r>
                      <a:r>
                        <a:rPr lang="en-US" sz="2400" dirty="0" smtClean="0"/>
                        <a:t> Heidelberg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Zoltan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K. Devine, B. Hendrickson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Sandia National Labs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Zoltan2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K. Devine, E. </a:t>
                      </a:r>
                      <a:r>
                        <a:rPr lang="en-US" sz="2400" dirty="0" err="1" smtClean="0"/>
                        <a:t>Boman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Sandia National Labs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7688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оценки качества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330824" cy="4525963"/>
          </a:xfrm>
        </p:spPr>
        <p:txBody>
          <a:bodyPr>
            <a:no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Суммарное число разрезанных ребер (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граничных вершин — количество вершин в каждом разделе, имеющих хотя бы одного соседа в другом разделе. 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соседних кластеров — количество кластеров, с которыми соединен исходный.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7</a:t>
            </a:fld>
            <a:r>
              <a:rPr lang="en-US" dirty="0" smtClean="0"/>
              <a:t>/14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340768"/>
            <a:ext cx="3896347" cy="1654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739" y="3140968"/>
            <a:ext cx="3896347" cy="1553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083" y="4869160"/>
            <a:ext cx="3699657" cy="1431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44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оценки качества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330824" cy="4525963"/>
          </a:xfrm>
        </p:spPr>
        <p:txBody>
          <a:bodyPr>
            <a:no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Дисбаланс вершин — отклонение количества вершин в кластере от среднего значения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Дисбаланс ребер 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 связности — количество изолированных фрагментов внутри одного раздела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работы алгоритма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работы алгоритма с учетом подготовки данных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8</a:t>
            </a:fld>
            <a:r>
              <a:rPr lang="en-US" dirty="0" smtClean="0"/>
              <a:t>/14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032" y="1600150"/>
            <a:ext cx="4158066" cy="1900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349" y="4077072"/>
            <a:ext cx="4043432" cy="1823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2734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Тестовый граф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44 609*44 609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ненулевых элементов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014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701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9</a:t>
            </a:fld>
            <a:r>
              <a:rPr lang="en-US" dirty="0" smtClean="0"/>
              <a:t>/14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748" y="1412776"/>
            <a:ext cx="4819650" cy="392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8936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Полученные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значения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 при разбиении графа на 10 кластеров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2602632" cy="47853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 числу разрезанных ребер и граничных вершин лидирует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dKaMinPar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силу специфики алгоритма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Zoltan2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показывает худшие результаты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10</a:t>
            </a:fld>
            <a:r>
              <a:rPr lang="en-US" dirty="0" smtClean="0"/>
              <a:t>/14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6432" y="1556792"/>
            <a:ext cx="4900634" cy="2324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184" y="4077072"/>
            <a:ext cx="4850882" cy="2280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0950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Полученные значения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 при разбиении графа на 10 кластеров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2602632" cy="47853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числу соседних кластеров лучший результат показывает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Zoltan2.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числу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 связности лучшие результаты показывают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ParMETIS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ParHIP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Zoltan.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11</a:t>
            </a:fld>
            <a:r>
              <a:rPr lang="en-US" dirty="0" smtClean="0"/>
              <a:t>/14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731" y="1484784"/>
            <a:ext cx="4975284" cy="2368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094" y="4005064"/>
            <a:ext cx="5023251" cy="2380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745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Полученные значения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 при разбиении графа на 10 кластеров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2602632" cy="47853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 дисбалансу вершин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лидирует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Zoltan2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 силу специфики алгоритма. Следом идут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Zoltan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ParMETIS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 дисбалансу ребер -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Zoltan2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ParMETIS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12</a:t>
            </a:fld>
            <a:r>
              <a:rPr lang="en-US" dirty="0" smtClean="0"/>
              <a:t>/14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248" y="1484783"/>
            <a:ext cx="4680520" cy="2201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534" y="3922662"/>
            <a:ext cx="4855924" cy="2305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45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Полученные значения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 при разбиении графа на 10 кластеров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2602632" cy="47853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Самым долгим алгоритмом по времени выполнения оказался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PT-Scotch.</a:t>
            </a: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данных не занимает много времени в виду небольшого размера графа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13</a:t>
            </a:fld>
            <a:r>
              <a:rPr lang="en-US" dirty="0" smtClean="0"/>
              <a:t>/14</a:t>
            </a:r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4146" y="1556791"/>
            <a:ext cx="4754463" cy="2237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331" y="4005064"/>
            <a:ext cx="4952092" cy="2314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694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14</a:t>
            </a:fld>
            <a:r>
              <a:rPr lang="en-US" dirty="0" smtClean="0"/>
              <a:t>/14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Выбраны библиотеки разбиения графов для анализа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модуль параллельного ввода и распределенного хранения графов в формате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 унифицированный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для вызова методов библиотек разбиения графов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модуль вычисления метрик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оценки качества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полученных разбиений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сравнительный анализ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тестовом графе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67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1761</TotalTime>
  <Words>526</Words>
  <Application>Microsoft Office PowerPoint</Application>
  <PresentationFormat>Экран (4:3)</PresentationFormat>
  <Paragraphs>108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Тема Office</vt:lpstr>
      <vt:lpstr>Презентация PowerPoint</vt:lpstr>
      <vt:lpstr>Задача декомпозиции графов</vt:lpstr>
      <vt:lpstr>Критерии декомпозиции</vt:lpstr>
      <vt:lpstr>Существующие решения </vt:lpstr>
      <vt:lpstr>Постановка задачи</vt:lpstr>
      <vt:lpstr>Выбранные библиотеки декомпозиции графов</vt:lpstr>
      <vt:lpstr>Метрики оценки качества</vt:lpstr>
      <vt:lpstr>Метрики оценки качества</vt:lpstr>
      <vt:lpstr>Тестовый граф</vt:lpstr>
      <vt:lpstr>Полученные значения метрик при разбиении графа на 10 кластеров</vt:lpstr>
      <vt:lpstr>Полученные значения метрик при разбиении графа на 10 кластеров</vt:lpstr>
      <vt:lpstr>Полученные значения метрик при разбиении графа на 10 кластеров</vt:lpstr>
      <vt:lpstr>Полученные значения метрик при разбиении графа на 10 кластеров</vt:lpstr>
      <vt:lpstr>Результаты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Maksimovich0705 Yuriy</dc:creator>
  <cp:lastModifiedBy>Maksimovich0705 Yuriy</cp:lastModifiedBy>
  <cp:revision>132</cp:revision>
  <dcterms:created xsi:type="dcterms:W3CDTF">2025-12-07T18:11:15Z</dcterms:created>
  <dcterms:modified xsi:type="dcterms:W3CDTF">2026-05-27T08:21:11Z</dcterms:modified>
</cp:coreProperties>
</file>