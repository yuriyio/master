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11"/>
  </p:notesMasterIdLst>
  <p:sldIdLst>
    <p:sldId id="295" r:id="rId2"/>
    <p:sldId id="299" r:id="rId3"/>
    <p:sldId id="302" r:id="rId4"/>
    <p:sldId id="303" r:id="rId5"/>
    <p:sldId id="287" r:id="rId6"/>
    <p:sldId id="298" r:id="rId7"/>
    <p:sldId id="306" r:id="rId8"/>
    <p:sldId id="307" r:id="rId9"/>
    <p:sldId id="290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88" autoAdjust="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48E5-5C80-4FE9-AAD7-62F4B4A7789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AF90C-B8CE-4128-8027-920B6E05DB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019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702D1-8E83-4FD4-BB01-79BD0A8F6AB9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16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57E6-D432-474A-99FA-3F1F144DCE56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36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CBF1-D137-43A7-8248-FC41F9FCA7D3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71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0D0E2-9266-4F5B-8712-9C40A7B33815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54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E68-9A9E-41FA-A766-D424906509E0}" type="datetime1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14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A0ACD-AF0C-4225-98F5-843381AEFD21}" type="datetime1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37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6724C-D428-455B-A8FE-DE4E1B538F0F}" type="datetime1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994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DC401-72A7-4619-9627-39A11F3A572F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37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1527-DCC5-4874-97E0-42C57D0917FB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84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3046E-8E18-4941-B41C-4C355F81EA6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88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7C9E0-4B7D-4D09-9DE1-AB72584E504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21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E1DE8-352A-4ED5-AF20-18A70F68A9B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03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/>
        </p:nvSpPr>
        <p:spPr>
          <a:xfrm>
            <a:off x="1415016" y="548680"/>
            <a:ext cx="61403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0">
                <a:latin typeface="Times New Roman"/>
              </a:defRPr>
            </a:pPr>
            <a:r>
              <a:rPr dirty="0" err="1"/>
              <a:t>Московский</a:t>
            </a:r>
            <a:r>
              <a:rPr dirty="0"/>
              <a:t> </a:t>
            </a:r>
            <a:r>
              <a:rPr dirty="0" err="1"/>
              <a:t>государственный</a:t>
            </a:r>
            <a:r>
              <a:rPr dirty="0"/>
              <a:t> </a:t>
            </a:r>
            <a:r>
              <a:rPr dirty="0" err="1"/>
              <a:t>университет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М.В. </a:t>
            </a:r>
            <a:r>
              <a:rPr dirty="0" err="1"/>
              <a:t>Ломоносова</a:t>
            </a:r>
            <a:r>
              <a:rPr dirty="0"/>
              <a:t/>
            </a:r>
            <a:br>
              <a:rPr dirty="0"/>
            </a:br>
            <a:r>
              <a:rPr dirty="0" err="1"/>
              <a:t>Факультет</a:t>
            </a:r>
            <a:r>
              <a:rPr dirty="0"/>
              <a:t> </a:t>
            </a:r>
            <a:r>
              <a:rPr dirty="0" err="1"/>
              <a:t>вычислительной</a:t>
            </a:r>
            <a:r>
              <a:rPr dirty="0"/>
              <a:t> </a:t>
            </a:r>
            <a:r>
              <a:rPr dirty="0" err="1"/>
              <a:t>математики</a:t>
            </a:r>
            <a:r>
              <a:rPr dirty="0"/>
              <a:t> и </a:t>
            </a:r>
            <a:r>
              <a:rPr dirty="0" err="1"/>
              <a:t>кибернетики</a:t>
            </a:r>
            <a:r>
              <a:rPr dirty="0"/>
              <a:t/>
            </a:r>
            <a:br>
              <a:rPr dirty="0"/>
            </a:br>
            <a:r>
              <a:rPr lang="ru-RU" dirty="0" smtClean="0"/>
              <a:t>Кафедра </a:t>
            </a:r>
            <a:r>
              <a:rPr lang="ru-RU" dirty="0"/>
              <a:t>суперкомпьютеров и квантовой информатики</a:t>
            </a:r>
            <a:endParaRPr dirty="0"/>
          </a:p>
        </p:txBody>
      </p:sp>
      <p:sp>
        <p:nvSpPr>
          <p:cNvPr id="8" name="TextBox 2"/>
          <p:cNvSpPr txBox="1"/>
          <p:nvPr/>
        </p:nvSpPr>
        <p:spPr>
          <a:xfrm>
            <a:off x="2872882" y="2090132"/>
            <a:ext cx="32246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0">
                <a:latin typeface="Times New Roman"/>
              </a:defRPr>
            </a:pPr>
            <a:r>
              <a:rPr lang="ru-RU" smtClean="0"/>
              <a:t>Повжик Юрий Максимович</a:t>
            </a:r>
            <a:endParaRPr/>
          </a:p>
        </p:txBody>
      </p:sp>
      <p:sp>
        <p:nvSpPr>
          <p:cNvPr id="9" name="TextBox 3"/>
          <p:cNvSpPr txBox="1"/>
          <p:nvPr/>
        </p:nvSpPr>
        <p:spPr>
          <a:xfrm>
            <a:off x="-20323" y="2996952"/>
            <a:ext cx="901105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200" b="0">
                <a:latin typeface="Times New Roman"/>
              </a:defRPr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библиотечных реализаций алгоритмов </a:t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декомпозиции графов</a:t>
            </a:r>
            <a:endParaRPr dirty="0"/>
          </a:p>
        </p:txBody>
      </p:sp>
      <p:sp>
        <p:nvSpPr>
          <p:cNvPr id="10" name="TextBox 4"/>
          <p:cNvSpPr txBox="1"/>
          <p:nvPr/>
        </p:nvSpPr>
        <p:spPr>
          <a:xfrm>
            <a:off x="5560608" y="4869160"/>
            <a:ext cx="317304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800" b="0">
                <a:latin typeface="Times New Roman"/>
              </a:defRPr>
            </a:pPr>
            <a:r>
              <a:rPr dirty="0" err="1"/>
              <a:t>Научный</a:t>
            </a:r>
            <a:r>
              <a:rPr dirty="0"/>
              <a:t> </a:t>
            </a:r>
            <a:r>
              <a:rPr dirty="0" err="1"/>
              <a:t>руководитель</a:t>
            </a:r>
            <a:r>
              <a:rPr dirty="0"/>
              <a:t>:</a:t>
            </a:r>
            <a:br>
              <a:rPr dirty="0"/>
            </a:br>
            <a:r>
              <a:rPr dirty="0"/>
              <a:t>к.ф.-</a:t>
            </a:r>
            <a:r>
              <a:rPr dirty="0" err="1"/>
              <a:t>м.н</a:t>
            </a:r>
            <a:r>
              <a:rPr dirty="0"/>
              <a:t>.,</a:t>
            </a:r>
            <a:br>
              <a:rPr dirty="0"/>
            </a:br>
            <a:r>
              <a:rPr lang="ru-RU" dirty="0" smtClean="0"/>
              <a:t>Жуков Константин Андреевич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3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декомпозиции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задачах систем линейных алгебраических уравнений для уменьшения времени решения необходимо 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оптимально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распределять вычислительную нагрузку по процессам.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графа — это задача разделения вершин графа на k непересекающихся кластеров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2</a:t>
            </a:fld>
            <a:r>
              <a:rPr lang="en-US" dirty="0" smtClean="0"/>
              <a:t>/8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39" y="1762509"/>
            <a:ext cx="3744416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662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декомпозиции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Равномерное распределение суммарного веса узлов/рёбер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суммарного веса разрезанных ребер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связности доменов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 числа соседних доменов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3</a:t>
            </a:fld>
            <a:r>
              <a:rPr lang="en-US" dirty="0" smtClean="0"/>
              <a:t>/8</a:t>
            </a:r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800" y="1700808"/>
            <a:ext cx="3760403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54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решения 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Последовательные библиотеки декомпозиции графов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METIS, Jostle, Scotch, Chaco, Party,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KaMinPar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Параллельные библиотеки декомпозиции графов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Jostle, PT-Scotch, Zoltan, Zoltan2,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4</a:t>
            </a:fld>
            <a:r>
              <a:rPr lang="en-US" dirty="0" smtClean="0"/>
              <a:t>/8</a:t>
            </a:r>
            <a:endParaRPr lang="ru-RU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216" y="1700808"/>
            <a:ext cx="378191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54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качества разбиения графов с использованием библиотек имеющих интерфейс на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C++/MPI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библиотеки разбиения графов для анализа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параллельный ввод и распределённое хранение графов в формате CSR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унифицированный интерфейс для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вызова методов библиотек разбиения графов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оздать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 вычисления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 оценки качества разбиения</a:t>
            </a:r>
          </a:p>
          <a:p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сравнителный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 на графах разной структуры и размерности.</a:t>
            </a:r>
          </a:p>
          <a:p>
            <a:pPr marL="0" indent="0">
              <a:buNone/>
            </a:pP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программный комплекс для автоматизированного тестирования библиотек в среде MPI и генерации детальных отчётов.</a:t>
            </a:r>
          </a:p>
          <a:p>
            <a:pPr marL="0" indent="0">
              <a:buNone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358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Выбранные библиотеки декомпозиции графов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сравнительного анализа были выбраны библиотеки, поддерживающие параллельное распределенное разбиение на базе интерфейса MPI и активно применяемые в индустрии высокопроизводительных вычислений.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таковых были выбраны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ParMETIS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PT-Scotch,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dKaMinPar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Zoltan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Zoltan2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24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Суммарное число разрезанных ребер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граничных вершин — количество вершин в каждом разделе, имеющих хотя бы одного соседа в другом разделе.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соседних кластеров — количество кластеров, с которыми соединен исходный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7</a:t>
            </a:fld>
            <a:r>
              <a:rPr lang="en-US" dirty="0" smtClean="0"/>
              <a:t>/8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340768"/>
            <a:ext cx="3896347" cy="1654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739" y="3140968"/>
            <a:ext cx="3896347" cy="155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83" y="4869160"/>
            <a:ext cx="3699657" cy="143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4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оценки качества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вершин — отклонение количества вершин в кластере от среднего значения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Дисбаланс ребер 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связности — количество изолированных фрагментов внутри одного раздела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работы алгоритма с учетом подготовки данных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88224" y="6356350"/>
            <a:ext cx="21336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8</a:t>
            </a:fld>
            <a:r>
              <a:rPr lang="en-US" dirty="0" smtClean="0"/>
              <a:t>/8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273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Текущие результаты и планы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Выполненные работы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компилированы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настроены библиотеки декомпозиции графов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Написана программа для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проведения сравнительного анализа алгоритмов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роект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 перенесён и запущен на суперкомпьютере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Polus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данные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рафы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разреженные матрицы из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SuiteSparse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Дальнейшие планы</a:t>
            </a:r>
          </a:p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выборки: сформировать репрезентативную коллекцию матриц для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тестирования алгоритмов и анализа результатов разбиений.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Нужна завершающая картинка хотя бы с одной матрицей.</a:t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Делаем слайд с матрицей на 50 тысяч и делаем столбчатую диаграмму со всеми названными метриками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r>
              <a:rPr lang="en-US" dirty="0" smtClean="0"/>
              <a:t>/</a:t>
            </a:r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01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1564</TotalTime>
  <Words>393</Words>
  <Application>Microsoft Office PowerPoint</Application>
  <PresentationFormat>Экран (4:3)</PresentationFormat>
  <Paragraphs>70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Презентация PowerPoint</vt:lpstr>
      <vt:lpstr>Задача декомпозиции графов</vt:lpstr>
      <vt:lpstr>Критерии декомпозиции</vt:lpstr>
      <vt:lpstr>Существующие решения </vt:lpstr>
      <vt:lpstr>Постановка задачи</vt:lpstr>
      <vt:lpstr>Выбранные библиотеки декомпозиции графов</vt:lpstr>
      <vt:lpstr>Метрики оценки качества</vt:lpstr>
      <vt:lpstr>Метрики оценки качества</vt:lpstr>
      <vt:lpstr>Текущие результаты и планы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Maksimovich0705 Yuriy</dc:creator>
  <cp:lastModifiedBy>Maksimovich0705 Yuriy</cp:lastModifiedBy>
  <cp:revision>113</cp:revision>
  <dcterms:created xsi:type="dcterms:W3CDTF">2025-12-07T18:11:15Z</dcterms:created>
  <dcterms:modified xsi:type="dcterms:W3CDTF">2026-05-19T19:48:01Z</dcterms:modified>
</cp:coreProperties>
</file>